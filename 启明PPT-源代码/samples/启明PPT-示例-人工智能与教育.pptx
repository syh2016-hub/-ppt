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大家好，今天分享的主题是「人工智能如何改变教育行业：从个性化学习到教师角色重塑」。这份内容会围绕科技领域的关键变化、方法和行动展开，尽量让每一位听众都能带走一个可执行的下一步。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先给大家一张地图。我们会依次经过三个部分，每一部分都对应一个可以带走的判断或动作。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进入第 1 部分：看见拐点。技术、成本与需求正在同时变化。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这一页帮助大家建立共同的背景认知：变化不是单点发生，而是环境、工具和期待同时在动。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进入第 2 部分：重构方法。用场景而不是功能，重新定义问题。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这一页给出一套能直接带走的四步法。重点不是步骤本身，而是每一步都要有可验证的产出。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进入第 3 部分：走向落地。把能力变成流程、产品与可衡量的结果。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这一页把行动拆到 90 天。每一阶段都有明确产出，避免“一直在准备，从未开始”。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如果要用三个数字盯住进展，我会选三个关键场景、90 天验证周期和一个固定的反馈机制。具体数值可以根据实际情况调整，但结构不要丢。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我想在这里停一下：真正拉开差距的，不是更早拥有工具，而是更早重建流程。 这也是我们接下来所有行动的判断标准。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最后用三句话收束今天的分享：定义问题、建立方法、盯住反馈。如果只能带走一件事，我建议从最小的那个行动开始。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以上就是今天的全部内容。感谢大家的时间，欢迎就感兴趣的部分继续交流。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732520" y="1005840"/>
            <a:ext cx="2971800" cy="2971800"/>
          </a:xfrm>
          <a:prstGeom prst="ellipse">
            <a:avLst/>
          </a:prstGeom>
          <a:noFill/>
          <a:ln w="13970">
            <a:solidFill>
              <a:srgbClr val="4A6DF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46920" y="1920240"/>
            <a:ext cx="1143000" cy="1143000"/>
          </a:xfrm>
          <a:prstGeom prst="ellipse">
            <a:avLst/>
          </a:prstGeom>
          <a:noFill/>
          <a:ln w="12700">
            <a:solidFill>
              <a:srgbClr val="E86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09728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 lang="zh-CN" altLang="en-US" spc="170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2026 · 科技主题分享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517904"/>
            <a:ext cx="745236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人工智能如何改变教育行业：从个性化学习到教师角色重塑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4041648"/>
            <a:ext cx="960120" cy="64008"/>
          </a:xfrm>
          <a:prstGeom prst="rect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4315968"/>
            <a:ext cx="6126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从技术变量到真实价值：一份可落地的行动地图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8704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 lang="zh-CN" altLang="en-US" spc="120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2026 ·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61772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200" b="1" lang="zh-CN" altLang="en-US">
                <a:solidFill>
                  <a:srgbClr val="D6D2C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4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4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4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8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46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91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43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55480" y="-1280160"/>
            <a:ext cx="4251960" cy="4251960"/>
          </a:xfrm>
          <a:prstGeom prst="ellipse">
            <a:avLst/>
          </a:prstGeom>
          <a:solidFill>
            <a:srgbClr val="F7E4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731520"/>
            <a:ext cx="41148" cy="5394960"/>
          </a:xfrm>
          <a:prstGeom prst="rect">
            <a:avLst/>
          </a:prstGeom>
          <a:solidFill>
            <a:srgbClr val="F6DCD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 lang="zh-CN" altLang="en-US" spc="180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3886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今天，我们聊三件事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76272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从看清问题，到形成方法，再到开始行动。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600" b="1" lang="zh-CN" altLang="en-US">
                <a:solidFill>
                  <a:srgbClr val="F7DFD3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64608" y="1170432"/>
            <a:ext cx="6565392" cy="12252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4064" y="1353312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lang="zh-CN" altLang="en-US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335024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看见拐点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1764792"/>
            <a:ext cx="5074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技术、成本与需求正在同时变化。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4608" y="2596896"/>
            <a:ext cx="6565392" cy="12252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4064" y="2779776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lang="zh-CN" altLang="en-US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761488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重构方法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191256"/>
            <a:ext cx="5074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用场景而不是功能，重新定义问题。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64608" y="4023360"/>
            <a:ext cx="6565392" cy="12252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84064" y="420624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lang="zh-CN" altLang="en-US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4187952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走向落地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617720"/>
            <a:ext cx="5074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把能力变成流程、产品与可衡量的结果。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6419088"/>
            <a:ext cx="10744200" cy="7315"/>
          </a:xfrm>
          <a:prstGeom prst="rect">
            <a:avLst/>
          </a:prstGeom>
          <a:solidFill>
            <a:srgbClr val="E0D9C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2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8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4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4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910"/>
                            </p:stCondLst>
                            <p:childTnLst>
                              <p:par>
                                <p:cTn id="2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1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3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7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7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200"/>
                            </p:stCondLst>
                            <p:childTnLst>
                              <p:par>
                                <p:cTn id="4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88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4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92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7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7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490"/>
                            </p:stCondLst>
                            <p:childTnLst>
                              <p:par>
                                <p:cTn id="6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17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69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732520" y="1234440"/>
            <a:ext cx="3337560" cy="3337560"/>
          </a:xfrm>
          <a:prstGeom prst="ellipse">
            <a:avLst/>
          </a:prstGeom>
          <a:noFill/>
          <a:ln w="12700">
            <a:solidFill>
              <a:srgbClr val="5B7A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100584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800" b="1" lang="zh-CN" altLang="en-US">
                <a:solidFill>
                  <a:srgbClr val="F2C7B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11556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 lang="zh-CN" altLang="en-US" spc="170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SECTION 01 ·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536192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看见拐点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3310128"/>
            <a:ext cx="960120" cy="64008"/>
          </a:xfrm>
          <a:prstGeom prst="rect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356616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技术、成本与需求正在同时变化。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6419088"/>
            <a:ext cx="10744200" cy="7315"/>
          </a:xfrm>
          <a:prstGeom prst="rect">
            <a:avLst/>
          </a:prstGeom>
          <a:solidFill>
            <a:srgbClr val="E0D9C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8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6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1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55480" y="-1280160"/>
            <a:ext cx="4251960" cy="4251960"/>
          </a:xfrm>
          <a:prstGeom prst="ellipse">
            <a:avLst/>
          </a:prstGeom>
          <a:solidFill>
            <a:srgbClr val="F7E4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731520"/>
            <a:ext cx="41148" cy="5394960"/>
          </a:xfrm>
          <a:prstGeom prst="rect">
            <a:avLst/>
          </a:prstGeom>
          <a:solidFill>
            <a:srgbClr val="F6DCD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 lang="zh-CN" altLang="en-US" spc="150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01 /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3886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正在发生的三个变化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33472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6052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0" b="1" lang="zh-CN" altLang="en-US">
                <a:solidFill>
                  <a:srgbClr val="F7E5D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8" name="Oval 7"/>
          <p:cNvSpPr/>
          <p:nvPr/>
        </p:nvSpPr>
        <p:spPr>
          <a:xfrm>
            <a:off x="4919472" y="1170431"/>
            <a:ext cx="384048" cy="384048"/>
          </a:xfrm>
          <a:prstGeom prst="ellipse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207007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8112" y="1133856"/>
            <a:ext cx="5989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环境之变：技术拐点正从边缘议题变成主流变量。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8112" y="2068829"/>
            <a:ext cx="5961888" cy="64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919472" y="2288286"/>
            <a:ext cx="384048" cy="384048"/>
          </a:xfrm>
          <a:prstGeom prst="ellipse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9472" y="232486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8112" y="2251710"/>
            <a:ext cx="5989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工具之变：场景重构降低了尝试门槛，也抬高了期待。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8112" y="3186683"/>
            <a:ext cx="5961888" cy="64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919472" y="3406139"/>
            <a:ext cx="384048" cy="384048"/>
          </a:xfrm>
          <a:prstGeom prst="ellipse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344271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3369563"/>
            <a:ext cx="5989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人心之变：关注技术落地的伙伴更在意确定的结果，而不是新鲜的概念。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68112" y="4304538"/>
            <a:ext cx="5961888" cy="64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919472" y="4523994"/>
            <a:ext cx="384048" cy="384048"/>
          </a:xfrm>
          <a:prstGeom prst="ellipse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9472" y="4560570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8112" y="4487418"/>
            <a:ext cx="5989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判断：人工智能如何改变教育行业：从个性化学习到教师角…的窗口期，来自能力与需求同时成熟。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68112" y="5422392"/>
            <a:ext cx="5961888" cy="64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13232" y="6419088"/>
            <a:ext cx="10744200" cy="7315"/>
          </a:xfrm>
          <a:prstGeom prst="rect">
            <a:avLst/>
          </a:prstGeom>
          <a:solidFill>
            <a:srgbClr val="E0D9C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2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8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8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4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4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2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4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1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60"/>
                            </p:stCondLst>
                            <p:childTnLst>
                              <p:par>
                                <p:cTn id="4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4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4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2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72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29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740"/>
                            </p:stCondLst>
                            <p:childTnLst>
                              <p:par>
                                <p:cTn id="5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4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4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38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90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7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7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47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920"/>
                            </p:stCondLst>
                            <p:childTnLst>
                              <p:par>
                                <p:cTn id="7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4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4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56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8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7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7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65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732520" y="1234440"/>
            <a:ext cx="3337560" cy="3337560"/>
          </a:xfrm>
          <a:prstGeom prst="ellipse">
            <a:avLst/>
          </a:prstGeom>
          <a:noFill/>
          <a:ln w="12700">
            <a:solidFill>
              <a:srgbClr val="5B7A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100584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800" b="1" lang="zh-CN" altLang="en-US">
                <a:solidFill>
                  <a:srgbClr val="F2C7B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11556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 lang="zh-CN" altLang="en-US" spc="170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SECTION 02 ·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536192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重构方法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3310128"/>
            <a:ext cx="960120" cy="64008"/>
          </a:xfrm>
          <a:prstGeom prst="rect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356616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用场景而不是功能，重新定义问题。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6419088"/>
            <a:ext cx="10744200" cy="7315"/>
          </a:xfrm>
          <a:prstGeom prst="rect">
            <a:avLst/>
          </a:prstGeom>
          <a:solidFill>
            <a:srgbClr val="E0D9C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8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6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1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55480" y="-1280160"/>
            <a:ext cx="4251960" cy="4251960"/>
          </a:xfrm>
          <a:prstGeom prst="ellipse">
            <a:avLst/>
          </a:prstGeom>
          <a:solidFill>
            <a:srgbClr val="F7E4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731520"/>
            <a:ext cx="41148" cy="5394960"/>
          </a:xfrm>
          <a:prstGeom prst="rect">
            <a:avLst/>
          </a:prstGeom>
          <a:solidFill>
            <a:srgbClr val="F6DCD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 lang="zh-CN" altLang="en-US" spc="150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02 /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3886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一套可复用的方法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33472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6052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0" b="1" lang="zh-CN" altLang="en-US">
                <a:solidFill>
                  <a:srgbClr val="F7E5DA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8" name="Oval 7"/>
          <p:cNvSpPr/>
          <p:nvPr/>
        </p:nvSpPr>
        <p:spPr>
          <a:xfrm>
            <a:off x="4919472" y="1170431"/>
            <a:ext cx="384048" cy="384048"/>
          </a:xfrm>
          <a:prstGeom prst="ellipse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207007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8112" y="1133856"/>
            <a:ext cx="5989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第一步 · 定义：用一句话说清「技术拐点」为谁解决什么问题。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8112" y="2068829"/>
            <a:ext cx="5961888" cy="64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919472" y="2288286"/>
            <a:ext cx="384048" cy="384048"/>
          </a:xfrm>
          <a:prstGeom prst="ellipse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9472" y="232486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8112" y="2251710"/>
            <a:ext cx="5989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第二步 · 拆解：把问题拆成 3 个可验证的假设。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8112" y="3186683"/>
            <a:ext cx="5961888" cy="64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919472" y="3406139"/>
            <a:ext cx="384048" cy="384048"/>
          </a:xfrm>
          <a:prstGeom prst="ellipse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344271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3369563"/>
            <a:ext cx="5989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第三步 · 验证：用最小成本跑通一个真实场景。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68112" y="4304538"/>
            <a:ext cx="5961888" cy="64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919472" y="4523994"/>
            <a:ext cx="384048" cy="384048"/>
          </a:xfrm>
          <a:prstGeom prst="ellipse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9472" y="4560570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8112" y="4487418"/>
            <a:ext cx="5989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第四步 · 沉淀：把有效动作写进流程和模板。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68112" y="5422392"/>
            <a:ext cx="5961888" cy="64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13232" y="6419088"/>
            <a:ext cx="10744200" cy="7315"/>
          </a:xfrm>
          <a:prstGeom prst="rect">
            <a:avLst/>
          </a:prstGeom>
          <a:solidFill>
            <a:srgbClr val="E0D9C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2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8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8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4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4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2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4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1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60"/>
                            </p:stCondLst>
                            <p:childTnLst>
                              <p:par>
                                <p:cTn id="4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4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4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2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72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29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740"/>
                            </p:stCondLst>
                            <p:childTnLst>
                              <p:par>
                                <p:cTn id="5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4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4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38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90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7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7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47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920"/>
                            </p:stCondLst>
                            <p:childTnLst>
                              <p:par>
                                <p:cTn id="7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4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4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56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8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7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7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65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732520" y="1234440"/>
            <a:ext cx="3337560" cy="3337560"/>
          </a:xfrm>
          <a:prstGeom prst="ellipse">
            <a:avLst/>
          </a:prstGeom>
          <a:noFill/>
          <a:ln w="12700">
            <a:solidFill>
              <a:srgbClr val="5B7A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100584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800" b="1" lang="zh-CN" altLang="en-US">
                <a:solidFill>
                  <a:srgbClr val="F2C7B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11556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 lang="zh-CN" altLang="en-US" spc="170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SECTION 03 ·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536192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走向落地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3310128"/>
            <a:ext cx="960120" cy="64008"/>
          </a:xfrm>
          <a:prstGeom prst="rect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356616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把能力变成流程、产品与可衡量的结果。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6419088"/>
            <a:ext cx="10744200" cy="7315"/>
          </a:xfrm>
          <a:prstGeom prst="rect">
            <a:avLst/>
          </a:prstGeom>
          <a:solidFill>
            <a:srgbClr val="E0D9C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8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6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1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55480" y="-1280160"/>
            <a:ext cx="4251960" cy="4251960"/>
          </a:xfrm>
          <a:prstGeom prst="ellipse">
            <a:avLst/>
          </a:prstGeom>
          <a:solidFill>
            <a:srgbClr val="F7E4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731520"/>
            <a:ext cx="41148" cy="5394960"/>
          </a:xfrm>
          <a:prstGeom prst="rect">
            <a:avLst/>
          </a:prstGeom>
          <a:solidFill>
            <a:srgbClr val="F6DCD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 lang="zh-CN" altLang="en-US" spc="150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03 /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从想法到落地的 90 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7772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76272"/>
            <a:ext cx="5276088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87552" y="2423160"/>
            <a:ext cx="310896" cy="50292"/>
          </a:xfrm>
          <a:prstGeom prst="rect">
            <a:avLst/>
          </a:prstGeom>
          <a:solidFill>
            <a:srgbClr val="1F4B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25603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lang="zh-CN" altLang="en-US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578608"/>
            <a:ext cx="4105655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6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第 1—14 天：完成基线盘点，锁定一个「技术拐点」场景。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2176272"/>
            <a:ext cx="5276088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83096" y="2423160"/>
            <a:ext cx="310896" cy="50292"/>
          </a:xfrm>
          <a:prstGeom prst="rect">
            <a:avLst/>
          </a:prstGeom>
          <a:solidFill>
            <a:srgbClr val="1F4B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73952" y="25603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lang="zh-CN" altLang="en-US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2578608"/>
            <a:ext cx="4105655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6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第 15—45 天：跑通最小闭环，收集真实反馈。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68496"/>
            <a:ext cx="5276088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87552" y="4215383"/>
            <a:ext cx="310896" cy="50292"/>
          </a:xfrm>
          <a:prstGeom prst="rect">
            <a:avLst/>
          </a:prstGeom>
          <a:solidFill>
            <a:srgbClr val="1F4B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78408" y="4352544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lang="zh-CN" altLang="en-US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370832"/>
            <a:ext cx="4105655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6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第 46—75 天：优化流程，明确责任人与评价标准。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3968496"/>
            <a:ext cx="5276088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483096" y="4215383"/>
            <a:ext cx="310896" cy="50292"/>
          </a:xfrm>
          <a:prstGeom prst="rect">
            <a:avLst/>
          </a:prstGeom>
          <a:solidFill>
            <a:srgbClr val="1F4B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73952" y="4352544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lang="zh-CN" altLang="en-US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4370832"/>
            <a:ext cx="4105655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6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第 76—90 天：复盘结果，决定复制、调整或停止。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6419088"/>
            <a:ext cx="10744200" cy="7315"/>
          </a:xfrm>
          <a:prstGeom prst="rect">
            <a:avLst/>
          </a:prstGeom>
          <a:solidFill>
            <a:srgbClr val="E0D9C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2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8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7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20"/>
                            </p:stCondLst>
                            <p:childTnLst>
                              <p:par>
                                <p:cTn id="2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4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92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49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940"/>
                            </p:stCondLst>
                            <p:childTnLst>
                              <p:par>
                                <p:cTn id="4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62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14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47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7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71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160"/>
                            </p:stCondLst>
                            <p:childTnLst>
                              <p:par>
                                <p:cTn id="6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84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360"/>
                            </p:stCondLst>
                            <p:childTnLst>
                              <p:par>
                                <p:cTn id="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7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7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93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80"/>
                            </p:stCondLst>
                            <p:childTnLst>
                              <p:par>
                                <p:cTn id="8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6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55480" y="-1280160"/>
            <a:ext cx="4251960" cy="4251960"/>
          </a:xfrm>
          <a:prstGeom prst="ellipse">
            <a:avLst/>
          </a:prstGeom>
          <a:solidFill>
            <a:srgbClr val="F7E4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731520"/>
            <a:ext cx="41148" cy="5394960"/>
          </a:xfrm>
          <a:prstGeom prst="rect">
            <a:avLst/>
          </a:prstGeom>
          <a:solidFill>
            <a:srgbClr val="F6DCD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1" lang="zh-CN" altLang="en-US" spc="150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用三个数字，盯住真正的进展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00784"/>
            <a:ext cx="566928" cy="50292"/>
          </a:xfrm>
          <a:prstGeom prst="rect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不是越多越好，而是每一项都能指导下一步动作。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3419856" cy="2944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42416" y="2468880"/>
            <a:ext cx="658368" cy="64008"/>
          </a:xfrm>
          <a:prstGeom prst="rect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42416" y="2798064"/>
            <a:ext cx="279806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800" b="1" lang="zh-CN" altLang="en-US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3931920"/>
            <a:ext cx="2798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关键场景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498848"/>
            <a:ext cx="279806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先聚焦，再扩展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7" y="2468880"/>
            <a:ext cx="3419856" cy="2944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718303" y="2468880"/>
            <a:ext cx="658368" cy="64008"/>
          </a:xfrm>
          <a:prstGeom prst="rect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18303" y="2798064"/>
            <a:ext cx="279806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800" b="1" lang="zh-CN" altLang="en-US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3" y="3931920"/>
            <a:ext cx="2798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验证天数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3" y="4498848"/>
            <a:ext cx="279806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用小闭环换确定性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468880"/>
            <a:ext cx="3419856" cy="2944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0C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394192" y="2468880"/>
            <a:ext cx="658368" cy="64008"/>
          </a:xfrm>
          <a:prstGeom prst="rect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94192" y="2798064"/>
            <a:ext cx="279806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800" b="1" lang="zh-CN" altLang="en-US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931920"/>
            <a:ext cx="279806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反馈机制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4498848"/>
            <a:ext cx="279806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让数据每周回流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6419088"/>
            <a:ext cx="10744200" cy="7315"/>
          </a:xfrm>
          <a:prstGeom prst="rect">
            <a:avLst/>
          </a:prstGeom>
          <a:solidFill>
            <a:srgbClr val="E0D9C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2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8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3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5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2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170"/>
                            </p:stCondLst>
                            <p:childTnLst>
                              <p:par>
                                <p:cTn id="3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7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9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46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910"/>
                            </p:stCondLst>
                            <p:childTnLst>
                              <p:par>
                                <p:cTn id="5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9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11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63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47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7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2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650"/>
                            </p:stCondLst>
                            <p:childTnLst>
                              <p:par>
                                <p:cTn id="7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33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85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quo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" y="274320"/>
            <a:ext cx="1554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200" b="1" lang="zh-CN" altLang="en-US">
                <a:solidFill>
                  <a:srgbClr val="F2C1B0"/>
                </a:solidFill>
                <a:latin typeface="Georgia"/>
                <a:ea typeface="Georgia"/>
                <a:cs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828800"/>
            <a:ext cx="964692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1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真正拉开差距的，不是更早拥有工具，而是更早重建流程。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4041648"/>
            <a:ext cx="822960" cy="54864"/>
          </a:xfrm>
          <a:prstGeom prst="rect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24128" y="429768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—— 本次分享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6419088"/>
            <a:ext cx="10744200" cy="7315"/>
          </a:xfrm>
          <a:prstGeom prst="rect">
            <a:avLst/>
          </a:prstGeom>
          <a:solidFill>
            <a:srgbClr val="E0D9C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4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6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1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55480" y="-1280160"/>
            <a:ext cx="4251960" cy="4251960"/>
          </a:xfrm>
          <a:prstGeom prst="ellipse">
            <a:avLst/>
          </a:prstGeom>
          <a:solidFill>
            <a:srgbClr val="F7E4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731520"/>
            <a:ext cx="41148" cy="5394960"/>
          </a:xfrm>
          <a:prstGeom prst="rect">
            <a:avLst/>
          </a:prstGeom>
          <a:solidFill>
            <a:srgbClr val="F6DCD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lang="zh-CN" altLang="en-US" spc="170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5943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带走这三件事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6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关于「人工智能如何改变教育行业：从个性化学习到教…」，今天最值得记住的判断。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459736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lang="zh-CN" altLang="en-US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23160"/>
            <a:ext cx="9235440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2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先定义问题：真正要改变的是「场景重构」，而不只是一个工具。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3428999"/>
            <a:ext cx="9098280" cy="64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3721607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lang="zh-CN" altLang="en-US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85031"/>
            <a:ext cx="9235440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2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再建立方法：锁定一个高价值场景，做一次最小可行验证。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4690872"/>
            <a:ext cx="9098280" cy="64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384" y="4983479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lang="zh-CN" altLang="en-US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946903"/>
            <a:ext cx="9235440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20" b="0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最后盯住反馈：用 验证周期 和 活跃使用率 判断是否真的有效。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5952744"/>
            <a:ext cx="9098280" cy="64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13232" y="6419088"/>
            <a:ext cx="10744200" cy="7315"/>
          </a:xfrm>
          <a:prstGeom prst="rect">
            <a:avLst/>
          </a:prstGeom>
          <a:solidFill>
            <a:srgbClr val="E0D9C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2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8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8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95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4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8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65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100"/>
                            </p:stCondLst>
                            <p:childTnLst>
                              <p:par>
                                <p:cTn id="4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78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35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326880" y="-1097280"/>
            <a:ext cx="3977639" cy="3977639"/>
          </a:xfrm>
          <a:prstGeom prst="ellipse">
            <a:avLst/>
          </a:prstGeom>
          <a:noFill/>
          <a:ln w="13970">
            <a:solidFill>
              <a:srgbClr val="5575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0" y="2057400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lang="zh-CN" altLang="en-US" spc="220">
                <a:solidFill>
                  <a:srgbClr val="E54B2A"/>
                </a:solidFill>
                <a:latin typeface="微软雅黑"/>
                <a:ea typeface="微软雅黑"/>
                <a:cs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81381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4800" b="1" lang="zh-CN" altLang="en-US">
                <a:solidFill>
                  <a:srgbClr val="181713"/>
                </a:solidFill>
                <a:latin typeface="微软雅黑"/>
                <a:ea typeface="微软雅黑"/>
                <a:cs typeface="微软雅黑"/>
              </a:rPr>
              <a:t>谢谢聆听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6128" y="3703320"/>
            <a:ext cx="1005840" cy="54864"/>
          </a:xfrm>
          <a:prstGeom prst="rect">
            <a:avLst/>
          </a:prstGeom>
          <a:solidFill>
            <a:srgbClr val="E54B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834640" y="3977639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0" lang="zh-CN" altLang="en-US">
                <a:solidFill>
                  <a:srgbClr val="6C675D"/>
                </a:solidFill>
                <a:latin typeface="微软雅黑"/>
                <a:ea typeface="微软雅黑"/>
                <a:cs typeface="微软雅黑"/>
              </a:rPr>
              <a:t>欢迎交流与提问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4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6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2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7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人工智能如何改变教育行业：从个性化学习到教师角色重塑</dc:title>
  <dc:subject>由启明 PPT 生成</dc:subject>
  <dc:creator>启明 PPT</dc:creator>
  <cp:keywords/>
  <dc:description>无水印导出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